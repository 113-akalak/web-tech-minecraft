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b7d862cbb0432c" /><Relationship Type="http://schemas.openxmlformats.org/officeDocument/2006/relationships/extended-properties" Target="/docProps/app.xml" Id="R423f29809bae4f9a" /><Relationship Type="http://schemas.openxmlformats.org/officeDocument/2006/relationships/officeDocument" Target="/ppt/presentation.xml" Id="R9fc2f14238334b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88a2ceb0ed4c16"/>
  </p:sldMasterIdLst>
  <p:notesMasterIdLst>
    <p:notesMasterId xmlns:r="http://schemas.openxmlformats.org/officeDocument/2006/relationships" r:id="Rb2d8ad6a5a764e52"/>
  </p:notesMasterIdLst>
  <p:sldIdLst>
    <p:sldId xmlns:r="http://schemas.openxmlformats.org/officeDocument/2006/relationships" id="256" r:id="R06081525ac284d5c"/>
    <p:sldId xmlns:r="http://schemas.openxmlformats.org/officeDocument/2006/relationships" id="257" r:id="R08e9e97214a646e6"/>
    <p:sldId xmlns:r="http://schemas.openxmlformats.org/officeDocument/2006/relationships" id="258" r:id="Rca3e54730c5e4deb"/>
    <p:sldId xmlns:r="http://schemas.openxmlformats.org/officeDocument/2006/relationships" id="259" r:id="R6a487473ebcd4c62"/>
    <p:sldId xmlns:r="http://schemas.openxmlformats.org/officeDocument/2006/relationships" id="260" r:id="R73167f83445c47bc"/>
    <p:sldId xmlns:r="http://schemas.openxmlformats.org/officeDocument/2006/relationships" id="261" r:id="R3c211f3168304d69"/>
    <p:sldId xmlns:r="http://schemas.openxmlformats.org/officeDocument/2006/relationships" id="262" r:id="Rfca31d2974fc4b6f"/>
    <p:sldId xmlns:r="http://schemas.openxmlformats.org/officeDocument/2006/relationships" id="263" r:id="Rc0252d1dcf7a409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88a2ceb0ed4c16" /><Relationship Type="http://schemas.openxmlformats.org/officeDocument/2006/relationships/theme" Target="/ppt/theme/theme1.xml" Id="R19e49841f6904019" /><Relationship Type="http://schemas.openxmlformats.org/officeDocument/2006/relationships/notesMaster" Target="/ppt/notesMasters/notesMaster1.xml" Id="Rb2d8ad6a5a764e52" /><Relationship Type="http://schemas.openxmlformats.org/officeDocument/2006/relationships/presProps" Target="/ppt/presProps.xml" Id="R4162a94ee66444af" /><Relationship Type="http://schemas.openxmlformats.org/officeDocument/2006/relationships/viewProps" Target="/ppt/viewProps.xml" Id="R25168117aa114d01" /><Relationship Type="http://schemas.openxmlformats.org/officeDocument/2006/relationships/tableStyles" Target="/ppt/tableStyles.xml" Id="R599d7cd63ef1490e" /><Relationship Type="http://schemas.openxmlformats.org/officeDocument/2006/relationships/slide" Target="/ppt/slides/slide1.xml" Id="R06081525ac284d5c" /><Relationship Type="http://schemas.openxmlformats.org/officeDocument/2006/relationships/slide" Target="/ppt/slides/slide2.xml" Id="R08e9e97214a646e6" /><Relationship Type="http://schemas.openxmlformats.org/officeDocument/2006/relationships/slide" Target="/ppt/slides/slide3.xml" Id="Rca3e54730c5e4deb" /><Relationship Type="http://schemas.openxmlformats.org/officeDocument/2006/relationships/slide" Target="/ppt/slides/slide4.xml" Id="R6a487473ebcd4c62" /><Relationship Type="http://schemas.openxmlformats.org/officeDocument/2006/relationships/slide" Target="/ppt/slides/slide5.xml" Id="R73167f83445c47bc" /><Relationship Type="http://schemas.openxmlformats.org/officeDocument/2006/relationships/slide" Target="/ppt/slides/slide6.xml" Id="R3c211f3168304d69" /><Relationship Type="http://schemas.openxmlformats.org/officeDocument/2006/relationships/slide" Target="/ppt/slides/slide7.xml" Id="Rfca31d2974fc4b6f" /><Relationship Type="http://schemas.openxmlformats.org/officeDocument/2006/relationships/slide" Target="/ppt/slides/slide8.xml" Id="Rc0252d1dcf7a40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f2557eda25844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a37baff4f24bc1" /><Relationship Type="http://schemas.openxmlformats.org/officeDocument/2006/relationships/notesMaster" Target="/ppt/notesMasters/notesMaster1.xml" Id="Rcdf00bab7d1c4e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f9fd14bc75425e" /><Relationship Type="http://schemas.openxmlformats.org/officeDocument/2006/relationships/notesMaster" Target="/ppt/notesMasters/notesMaster1.xml" Id="R6b993d45a7ea44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b382578d0e40d0" /><Relationship Type="http://schemas.openxmlformats.org/officeDocument/2006/relationships/notesMaster" Target="/ppt/notesMasters/notesMaster1.xml" Id="Rbbf4689b039c46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492afb406b46f0" /><Relationship Type="http://schemas.openxmlformats.org/officeDocument/2006/relationships/notesMaster" Target="/ppt/notesMasters/notesMaster1.xml" Id="R171b32256e4e41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9cdc3695e74f19" /><Relationship Type="http://schemas.openxmlformats.org/officeDocument/2006/relationships/notesMaster" Target="/ppt/notesMasters/notesMaster1.xml" Id="Ra6e3cad70df842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f67d991c174493" /><Relationship Type="http://schemas.openxmlformats.org/officeDocument/2006/relationships/notesMaster" Target="/ppt/notesMasters/notesMaster1.xml" Id="Re662f5fb260d43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a0ca715b0c4718" /><Relationship Type="http://schemas.openxmlformats.org/officeDocument/2006/relationships/notesMaster" Target="/ppt/notesMasters/notesMaster1.xml" Id="Rc83a58415c994c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adaa0f0c214bf2" /><Relationship Type="http://schemas.openxmlformats.org/officeDocument/2006/relationships/notesMaster" Target="/ppt/notesMasters/notesMaster1.xml" Id="Rab6ebc3d093a47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54ab026ff74bb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dd30f43682f44f2" /><Relationship Type="http://schemas.openxmlformats.org/officeDocument/2006/relationships/slideLayout" Target="/ppt/slideLayouts/slideLayout2.xml" Id="R80546bfb746044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546bfb746044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dcab0125344f11" /><Relationship Type="http://schemas.openxmlformats.org/officeDocument/2006/relationships/image" Target="/ppt/media/image.png" Id="R0f55a65174ed4d10" /><Relationship Type="http://schemas.openxmlformats.org/officeDocument/2006/relationships/notesSlide" Target="/ppt/notesSlides/notesSlide1.xml" Id="R2fc13a184f6849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866d1624174100" /><Relationship Type="http://schemas.openxmlformats.org/officeDocument/2006/relationships/image" Target="/ppt/media/image2.png" Id="Ra3dfacbbcc9141f4" /><Relationship Type="http://schemas.openxmlformats.org/officeDocument/2006/relationships/image" Target="/ppt/media/image3.png" Id="R697056706c25449d" /><Relationship Type="http://schemas.openxmlformats.org/officeDocument/2006/relationships/notesSlide" Target="/ppt/notesSlides/notesSlide2.xml" Id="R889d9bb2d03240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e2dec689d04dd7" /><Relationship Type="http://schemas.openxmlformats.org/officeDocument/2006/relationships/notesSlide" Target="/ppt/notesSlides/notesSlide3.xml" Id="R389f76eb286f4f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f0e9ca0f0b4e0c" /><Relationship Type="http://schemas.openxmlformats.org/officeDocument/2006/relationships/image" Target="/ppt/media/image4.png" Id="Rc51fb8a07ed94822" /><Relationship Type="http://schemas.openxmlformats.org/officeDocument/2006/relationships/image" Target="/ppt/media/image5.png" Id="R9527e2345b324e7e" /><Relationship Type="http://schemas.openxmlformats.org/officeDocument/2006/relationships/notesSlide" Target="/ppt/notesSlides/notesSlide4.xml" Id="R71b0eabe2c0e48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6bfbc5ee264565" /><Relationship Type="http://schemas.openxmlformats.org/officeDocument/2006/relationships/notesSlide" Target="/ppt/notesSlides/notesSlide5.xml" Id="R2fe0d25931b24b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f25a9ba7c44f8f" /><Relationship Type="http://schemas.openxmlformats.org/officeDocument/2006/relationships/image" Target="/ppt/media/image6.png" Id="R659d5f54558742cb" /><Relationship Type="http://schemas.openxmlformats.org/officeDocument/2006/relationships/image" Target="/ppt/media/image7.png" Id="Rdceec204bcfd4a62" /><Relationship Type="http://schemas.openxmlformats.org/officeDocument/2006/relationships/image" Target="/ppt/media/image8.png" Id="Rf4723f5dae5d4cf2" /><Relationship Type="http://schemas.openxmlformats.org/officeDocument/2006/relationships/notesSlide" Target="/ppt/notesSlides/notesSlide6.xml" Id="Rae7a0ebd1ac848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4d61491ed94fae" /><Relationship Type="http://schemas.openxmlformats.org/officeDocument/2006/relationships/notesSlide" Target="/ppt/notesSlides/notesSlide7.xml" Id="R2ea8c1e20dd942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297aa138d84145" /><Relationship Type="http://schemas.openxmlformats.org/officeDocument/2006/relationships/image" Target="/ppt/media/image9.png" Id="R9c9f37ec07c64f64" /><Relationship Type="http://schemas.openxmlformats.org/officeDocument/2006/relationships/image" Target="/ppt/media/image.jpeg" Id="R1fc71ab6caae45c9" /><Relationship Type="http://schemas.openxmlformats.org/officeDocument/2006/relationships/image" Target="/ppt/media/image2.jpeg" Id="R0be8800b7b234023" /><Relationship Type="http://schemas.openxmlformats.org/officeDocument/2006/relationships/notesSlide" Target="/ppt/notesSlides/notesSlide8.xml" Id="R0c4ade94bc7a4f1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6411B5-C6E4-4901-97D9-47AAD569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02967-111B-497D-A49B-6EFAC858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MINECRAFT -&gt; LEGO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DAF6C-6AFE-4E53-A524-278E9851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76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BBB6A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BBB6AA"/>
                </a:solidFill>
                <a:latin typeface="Aptos"/>
                <a:ea typeface="Aptos"/>
                <a:cs typeface="Aptos"/>
              </a:rPr>
              <a:t>Homepage clone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CB3762-F20B-4DC8-B58C-6A493344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BBB6A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BBB6AA"/>
                </a:solidFill>
                <a:latin typeface="Aptos"/>
                <a:ea typeface="Aptos"/>
                <a:cs typeface="Aptos"/>
              </a:rPr>
              <a:t>Structure, content,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BBBA4-9588-4FDF-853E-B3BB2A31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BB6A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BBB6A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7F597F-09BC-4B5C-9A74-47334CEC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20F0E7-D273-4831-A12A-9F6B4C4B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495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84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CLONE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1C3C1-9973-4238-9E3C-91F775E3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495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84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GUIDE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7E6896-5D9C-4B20-9C82-A0217343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4667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Minecraft homepage structure rebuilt with LEGO-themed content and custom front-end code.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9E530E-BD0F-4493-B49F-8616FC5A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7A3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7A32A"/>
                </a:solidFill>
                <a:latin typeface="Aptos"/>
                <a:ea typeface="Aptos"/>
                <a:cs typeface="Aptos"/>
              </a:rPr>
              <a:t>ORIGINAL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993786-C9F5-4C1A-A239-19007E67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197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8D3C7"/>
                </a:solidFill>
                <a:latin typeface="Aptos"/>
                <a:ea typeface="Aptos"/>
                <a:cs typeface="Aptos"/>
              </a:rPr>
              <a:t>minecraft.net/en-us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135A24-1D64-44DC-950D-85F820FB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626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51B2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51B23"/>
                </a:solidFill>
                <a:latin typeface="Aptos"/>
                <a:ea typeface="Aptos"/>
                <a:cs typeface="Aptos"/>
              </a:rPr>
              <a:t>CLONE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C15455-58C1-4857-8FCF-D74C076B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5626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8D3C7"/>
                </a:solidFill>
                <a:latin typeface="Aptos"/>
                <a:ea typeface="Aptos"/>
                <a:cs typeface="Aptos"/>
              </a:rPr>
              <a:t>LEGO content direction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493A7A-79B6-41B3-A269-AFBBD1ED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1095375"/>
            <a:ext cx="5867400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9050">
            <a:solidFill>
              <a:srgbClr val="E51B23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55a65174ed4d10"/>
          <a:srcRect xmlns:a="http://schemas.openxmlformats.org/drawingml/2006/main" l="55" t="0" r="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1123950"/>
            <a:ext cx="5810250" cy="43624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0657F8-8E3C-4D2A-A374-981866CA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288259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4BDC6D-1EEE-4D64-A52B-8935F544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EB767-72FA-4C5B-9352-4250254E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18EE3E-BE6F-49EE-BA72-E0066212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76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BBB6A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BBB6AA"/>
                </a:solidFill>
                <a:latin typeface="Aptos"/>
                <a:ea typeface="Aptos"/>
                <a:cs typeface="Aptos"/>
              </a:rPr>
              <a:t>Original and clone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F6BD2-74A2-4FA3-B583-AC850DEB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BBB6A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BBB6AA"/>
                </a:solidFill>
                <a:latin typeface="Aptos"/>
                <a:ea typeface="Aptos"/>
                <a:cs typeface="Aptos"/>
              </a:rPr>
              <a:t>Visual comparison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E5F873-FE82-42E3-930E-3F1549AC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BB6A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BBB6A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11D14-9A6C-4999-AB5B-90B9DA15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A1DD9-206A-450A-B942-94DBFD38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247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FROM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AFAF3-9736-4421-8B1F-D208D535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4476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47A32A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47A32A"/>
                </a:solidFill>
                <a:latin typeface="Aptos Display"/>
                <a:ea typeface="Aptos Display"/>
                <a:cs typeface="Aptos Display"/>
              </a:rPr>
              <a:t>MINECRAFT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EAEC8-8B24-4717-98C8-2DC17161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86100"/>
            <a:ext cx="400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E51B23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E51B23"/>
                </a:solidFill>
                <a:latin typeface="Aptos Display"/>
                <a:ea typeface="Aptos Display"/>
                <a:cs typeface="Aptos Display"/>
              </a:rPr>
              <a:t>TO LEGO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23923-917F-4346-ACD2-B928A25F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29050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The clone preserves the homepage skeleton: fixed navigation, hero card, slide thumbnails, discovery sections, video area, and footer.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D55F16-94BF-460B-A68E-CB5DDA39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942975"/>
            <a:ext cx="2771775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9050">
            <a:solidFill>
              <a:srgbClr val="47A32A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facbbcc9141f4"/>
          <a:srcRect xmlns:a="http://schemas.openxmlformats.org/drawingml/2006/main" l="28189" t="0" r="281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0" y="971550"/>
            <a:ext cx="2714625" cy="4667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ACE9B3-610C-4F38-A589-56AE79CE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942975"/>
            <a:ext cx="2771775" cy="472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9050">
            <a:solidFill>
              <a:srgbClr val="E51B23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7056706c25449d"/>
          <a:srcRect xmlns:a="http://schemas.openxmlformats.org/drawingml/2006/main" l="28189" t="0" r="281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15375" y="971550"/>
            <a:ext cx="2714625" cy="46672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B87A47-F2B6-44BF-BE84-CFDE7B0B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8483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7A3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7A32A"/>
                </a:solidFill>
                <a:latin typeface="Aptos"/>
                <a:ea typeface="Aptos"/>
                <a:cs typeface="Aptos"/>
              </a:rPr>
              <a:t>Minecraft original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4AF7BA-1710-42D8-B152-49DDB97E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8483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51B2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51B23"/>
                </a:solidFill>
                <a:latin typeface="Aptos"/>
                <a:ea typeface="Aptos"/>
                <a:cs typeface="Aptos"/>
              </a:rPr>
              <a:t>LEGO content clone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2B6273-4813-45CD-800B-CD3D985A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5992043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608A7F-EF99-495C-B310-12F15533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84E21F-19FE-475B-9C50-A76A5091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CONTENT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6536A-8758-4D4C-91B7-32FB8C7F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76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4F4B4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F4B45"/>
                </a:solidFill>
                <a:latin typeface="Aptos"/>
                <a:ea typeface="Aptos"/>
                <a:cs typeface="Aptos"/>
              </a:rPr>
              <a:t>Page anatomy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4157DC-05A9-4F59-8DF7-FDEDC659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4F4B4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F4B45"/>
                </a:solidFill>
                <a:latin typeface="Aptos"/>
                <a:ea typeface="Aptos"/>
                <a:cs typeface="Aptos"/>
              </a:rPr>
              <a:t>Minecraft roles, LEGO subjects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C3001F-8EB6-4A23-9516-830139B0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4F4B4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F4B4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60BCB-2411-469B-9E1D-65B060F1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7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AB7F8-23FE-4039-BE2A-C6576428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95350"/>
            <a:ext cx="7524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66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812883-DBA5-4E1C-AB2B-B3763A39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1811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4B4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F4B45"/>
                </a:solidFill>
                <a:latin typeface="Aptos"/>
                <a:ea typeface="Aptos"/>
                <a:cs typeface="Aptos"/>
              </a:rPr>
              <a:t>Each Minecraft page role is translated into a LEGO content role.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D6B54-B89D-4731-8374-E89F64DA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431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7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CD6D6-0006-4068-A1C1-E48A3C45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0764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7BF21B-DF61-4F76-AA51-36F4DD0C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907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Header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D84A24-C5FD-4084-AA3E-BE6F10CC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907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4B4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F4B45"/>
                </a:solidFill>
                <a:latin typeface="Aptos"/>
                <a:ea typeface="Aptos"/>
                <a:cs typeface="Aptos"/>
              </a:rPr>
              <a:t>Navigation, search, account, Buy Now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1FDAF2-BACE-411A-B0ED-FF633E2D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19075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A3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A32A"/>
                </a:solidFill>
                <a:latin typeface="Aptos"/>
                <a:ea typeface="Aptos"/>
                <a:cs typeface="Aptos"/>
              </a:rPr>
              <a:t>LEGO theme navigation and mega panels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A47CF7-A8F5-4A28-9108-39898C4C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8194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7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D31501-992E-47DD-BF22-156D8078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337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Hero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C656DC-16CA-4F45-BF71-C4A366F7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337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4B4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F4B45"/>
                </a:solidFill>
                <a:latin typeface="Aptos"/>
                <a:ea typeface="Aptos"/>
                <a:cs typeface="Aptos"/>
              </a:rPr>
              <a:t>Campaign visual, card copy, CTA, tabs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DD709B-6B89-433F-B0C9-89B331CB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93370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1B2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51B23"/>
                </a:solidFill>
                <a:latin typeface="Aptos"/>
                <a:ea typeface="Aptos"/>
                <a:cs typeface="Aptos"/>
              </a:rPr>
              <a:t>SMART Play, Star Wars, Technic, Botanicals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2FBACF-AAC5-46CF-962C-2D50C4C6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5623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7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A75DFB-4E4A-4B05-AE15-24B42293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766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Discovery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5999F9-729E-40CE-B0FE-5C6B5202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766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4B4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F4B45"/>
                </a:solidFill>
                <a:latin typeface="Aptos"/>
                <a:ea typeface="Aptos"/>
                <a:cs typeface="Aptos"/>
              </a:rPr>
              <a:t>Game cards and news rhythm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BD8DE2-8629-47C4-B43E-A0290A85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7665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A3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A32A"/>
                </a:solidFill>
                <a:latin typeface="Aptos"/>
                <a:ea typeface="Aptos"/>
                <a:cs typeface="Aptos"/>
              </a:rPr>
              <a:t>Sets, stories, marketplace rows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D5CF34-AA3C-4885-9BE2-FF04E7FB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3053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7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64848D-7824-476D-8A41-7BA3F67C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196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Media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913790-A3D6-4DC5-B03A-8BD253D1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196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4B4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F4B45"/>
                </a:solidFill>
                <a:latin typeface="Aptos"/>
                <a:ea typeface="Aptos"/>
                <a:cs typeface="Aptos"/>
              </a:rPr>
              <a:t>Trailer and video panels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481F8E-282B-40B8-85CF-9A8F09BB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41960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1B2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51B23"/>
                </a:solidFill>
                <a:latin typeface="Aptos"/>
                <a:ea typeface="Aptos"/>
                <a:cs typeface="Aptos"/>
              </a:rPr>
              <a:t>Featured LEGO videos with controls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120840-3A06-42EC-A74F-736F9DFA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0482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7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B4C1D3-370E-4EA5-AD7E-5B8B40A0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625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0B0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B0B0B"/>
                </a:solidFill>
                <a:latin typeface="Aptos"/>
                <a:ea typeface="Aptos"/>
                <a:cs typeface="Aptos"/>
              </a:rPr>
              <a:t>Footer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9DC43B-D8F4-45EA-9887-675056DA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6255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4B4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F4B45"/>
                </a:solidFill>
                <a:latin typeface="Aptos"/>
                <a:ea typeface="Aptos"/>
                <a:cs typeface="Aptos"/>
              </a:rPr>
              <a:t>Social, links, legal structure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55B24B-9BF2-4ABE-86E7-FB0509C5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16255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A3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7A32A"/>
                </a:solidFill>
                <a:latin typeface="Aptos"/>
                <a:ea typeface="Aptos"/>
                <a:cs typeface="Aptos"/>
              </a:rPr>
              <a:t>LEGO social and footer columns</a:t>
            </a:r>
          </a:p>
        </p:txBody>
      </p:sp>
    </p:spTree>
    <p:extLst>
      <p:ext uri="{BB962C8B-B14F-4D97-AF65-F5344CB8AC3E}">
        <p14:creationId xmlns:p14="http://schemas.microsoft.com/office/powerpoint/2010/main" val="132045769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4CB2BB-DBF0-492B-9776-10B6DE4F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7FBD73-147C-4704-800C-E559CC7D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4EF6D-8676-470F-9C87-03322810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76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4F4B4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F4B45"/>
                </a:solidFill>
                <a:latin typeface="Aptos"/>
                <a:ea typeface="Aptos"/>
                <a:cs typeface="Aptos"/>
              </a:rPr>
              <a:t>Original vs clone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813888-48A4-4758-A026-9F232E6D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4F4B4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F4B45"/>
                </a:solidFill>
                <a:latin typeface="Aptos"/>
                <a:ea typeface="Aptos"/>
                <a:cs typeface="Aptos"/>
              </a:rPr>
              <a:t>Screenshots and sections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24B68-AD24-4ABD-B02C-D09FB659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4F4B4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F4B4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B77C34-97F9-446E-88CF-93317955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7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98ECD-0278-4AB0-A7D7-9AE92A95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95350"/>
            <a:ext cx="4095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66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MATCH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9FC12D-1ACB-453F-A03C-0664C55F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24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7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C2B58-64B6-4E3F-8505-F23A6BFD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209800"/>
            <a:ext cx="5010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9050">
            <a:solidFill>
              <a:srgbClr val="47A32A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1fb8a07ed94822"/>
          <a:srcRect xmlns:a="http://schemas.openxmlformats.org/drawingml/2006/main" l="0" t="7692" r="0" b="76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238375"/>
            <a:ext cx="4953000" cy="3143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E0A11B-9047-46C7-AA38-BE27820E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209800"/>
            <a:ext cx="50101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9050">
            <a:solidFill>
              <a:srgbClr val="E51B23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27e2345b324e7e"/>
          <a:srcRect xmlns:a="http://schemas.openxmlformats.org/drawingml/2006/main" l="0" t="7692" r="0" b="76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2238375"/>
            <a:ext cx="4953000" cy="3143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E4C35-5A82-4423-AE56-ED75CE2A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7A3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7A32A"/>
                </a:solidFill>
                <a:latin typeface="Aptos"/>
                <a:ea typeface="Aptos"/>
                <a:cs typeface="Aptos"/>
              </a:rPr>
              <a:t>Original: Minecraft homepage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B867F-5695-469A-8993-B5E0E5E2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6740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F4B4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F4B45"/>
                </a:solidFill>
                <a:latin typeface="Aptos"/>
                <a:ea typeface="Aptos"/>
                <a:cs typeface="Aptos"/>
              </a:rPr>
              <a:t>Blocky campaign hero, black card, green CTA, thumbnail tabs.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112093-FEDB-48FD-BE0E-7049426F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6197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51B2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51B23"/>
                </a:solidFill>
                <a:latin typeface="Aptos"/>
                <a:ea typeface="Aptos"/>
                <a:cs typeface="Aptos"/>
              </a:rPr>
              <a:t>Clone: LEGO content system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EC7193-FB99-4487-9536-3678C9AF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8674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F4B4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F4B45"/>
                </a:solidFill>
                <a:latin typeface="Aptos"/>
                <a:ea typeface="Aptos"/>
                <a:cs typeface="Aptos"/>
              </a:rPr>
              <a:t>Same structure and interaction pattern with LEGO imagery, copy, and red CTA.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3AFAE1-1841-4F03-9631-D289F9E7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4290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F62433-5A19-43D9-96D3-E1468E70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543300"/>
            <a:ext cx="266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3F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3F1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</p:spTree>
    <p:extLst>
      <p:ext uri="{BB962C8B-B14F-4D97-AF65-F5344CB8AC3E}">
        <p14:creationId xmlns:p14="http://schemas.microsoft.com/office/powerpoint/2010/main" val="70159865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F56E75-2E81-41D8-87AA-5B3DA487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24D48-957C-464F-B6B8-8CEFF0E7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LAYOUT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C4DD6-1E40-40DD-9B53-86A00664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76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4F4B4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F4B45"/>
                </a:solidFill>
                <a:latin typeface="Aptos"/>
                <a:ea typeface="Aptos"/>
                <a:cs typeface="Aptos"/>
              </a:rPr>
              <a:t>HTML and CSS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9FBFD-9F47-4854-8D55-BE1FF705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4F4B4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F4B45"/>
                </a:solidFill>
                <a:latin typeface="Aptos"/>
                <a:ea typeface="Aptos"/>
                <a:cs typeface="Aptos"/>
              </a:rPr>
              <a:t>Structure proof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E8BE69-7FED-4EFD-BFE3-1C1D24B1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4F4B4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F4B4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56ED1-0845-4012-A729-48159F72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7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12E21-702A-4248-B896-BCD7002A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95350"/>
            <a:ext cx="33813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66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A1817F-B4A9-443C-AE4B-7EF41F18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181100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4B4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F4B45"/>
                </a:solidFill>
                <a:latin typeface="Aptos"/>
                <a:ea typeface="Aptos"/>
                <a:cs typeface="Aptos"/>
              </a:rPr>
              <a:t>The layout is organized as reusable page regions and section blocks.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F35C51-B232-4608-A461-E16EB623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24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7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57B3D8-2A6B-49A4-82E1-A6DA3934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509587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B0B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D2BF87-BBE2-463D-A784-26C0CCBB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4714875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&lt;header class="site-header"&gt;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&lt;nav class="navbar"&gt;...&lt;/nav&gt;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&lt;div class="mega-panel" hidden&gt;...&lt;/div&gt;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&lt;/header&gt;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&lt;main id="main-content"&gt;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&lt;section class="hero-section"&gt;...&lt;/section&gt;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&lt;section class="discover-section"&gt;...&lt;/section&gt;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&lt;section class="marketplace-section"&gt;...&lt;/section&gt;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&lt;section class="trailer-section"&gt;...&lt;/section&gt;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&lt;section class="news-section"&gt;...&lt;/section&gt;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&lt;/main&gt;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&lt;footer class="mc-footer"&gt;...&lt;/footer&gt;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7B59BE-196D-49C3-B632-04E8A430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43150"/>
            <a:ext cx="509587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B0B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5D8E67-3D9C-41FC-A2E5-F62BD5BA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14600"/>
            <a:ext cx="4714875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.navbar {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display: flex;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align-items: center;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padding: 0 clamp(24px, 4.05vw, 64px);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.mega-shell {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display: grid;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grid-template-columns: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  254px minmax(620px, 888px)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  minmax(180px, 255px);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.game-grid,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.news-grid {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display: grid;</a:t>
            </a:r>
          </a:p>
          <a:p xmlns:a="http://schemas.openxmlformats.org/drawingml/2006/main">
            <a:pPr algn="l">
              <a:def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772EA9-5B07-454F-978F-10CF060F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960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51B2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51B23"/>
                </a:solidFill>
                <a:latin typeface="Aptos"/>
                <a:ea typeface="Aptos"/>
                <a:cs typeface="Aptos"/>
              </a:rPr>
              <a:t>index.html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316ED3-4E47-4EB9-9ACB-31804EE0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0960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7A3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7A32A"/>
                </a:solidFill>
                <a:latin typeface="Aptos"/>
                <a:ea typeface="Aptos"/>
                <a:cs typeface="Aptos"/>
              </a:rPr>
              <a:t>styles/layout.css</a:t>
            </a:r>
          </a:p>
        </p:txBody>
      </p:sp>
    </p:spTree>
    <p:extLst>
      <p:ext uri="{BB962C8B-B14F-4D97-AF65-F5344CB8AC3E}">
        <p14:creationId xmlns:p14="http://schemas.microsoft.com/office/powerpoint/2010/main" val="1205652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DC6107-9265-4749-B46C-E3179104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1D321-E039-47E8-90AD-1C184DD0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RESPONSIVE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DE1E9A-2593-48F3-9FC2-AA9C6022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76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BBB6A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BBB6AA"/>
                </a:solidFill>
                <a:latin typeface="Aptos"/>
                <a:ea typeface="Aptos"/>
                <a:cs typeface="Aptos"/>
              </a:rPr>
              <a:t>Desktop / tablet / mobile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F0D68-2B2E-47B4-A8E2-B4DD63BB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BBB6A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BBB6AA"/>
                </a:solidFill>
                <a:latin typeface="Aptos"/>
                <a:ea typeface="Aptos"/>
                <a:cs typeface="Aptos"/>
              </a:rPr>
              <a:t>Same hierarchy, different frame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AB177-C6FC-4669-95D7-0EB745CB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BB6A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BBB6A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41B0B-60E6-41DC-B252-B0E989D47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A1BFEE-5655-4C4C-8A25-9069ACD1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3619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SCREEN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78CB9-014F-4BCE-B6E1-A852166D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3619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1BA1F9-F053-4BFD-BBCE-3AA2E8C4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114425"/>
            <a:ext cx="3200400" cy="2676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9050">
            <a:solidFill>
              <a:srgbClr val="E51B23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d5f54558742cb"/>
          <a:srcRect xmlns:a="http://schemas.openxmlformats.org/drawingml/2006/main" l="5000" t="0" r="5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1143000"/>
            <a:ext cx="3143250" cy="26193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3B7ABE-80B6-4395-B749-4A11933F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114425"/>
            <a:ext cx="1533525" cy="2676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9050">
            <a:solidFill>
              <a:srgbClr val="FFC42B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eec204bcfd4a62"/>
          <a:srcRect xmlns:a="http://schemas.openxmlformats.org/drawingml/2006/main" l="12424" t="0" r="124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0" y="1143000"/>
            <a:ext cx="1476375" cy="261937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E7001A-6815-4812-834E-3E70D6DD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1114425"/>
            <a:ext cx="1123950" cy="2676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9050">
            <a:solidFill>
              <a:srgbClr val="47A32A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23f5dae5d4cf2"/>
          <a:srcRect xmlns:a="http://schemas.openxmlformats.org/drawingml/2006/main" l="5931" t="0" r="593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1750" y="1143000"/>
            <a:ext cx="1066800" cy="2619375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597663-3294-43EE-A594-7BF97451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84C5B0-3C16-4426-B2C0-E2F2CFF7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0062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51B2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51B23"/>
                </a:solidFill>
                <a:latin typeface="Aptos"/>
                <a:ea typeface="Aptos"/>
                <a:cs typeface="Aptos"/>
              </a:rPr>
              <a:t>Desktop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5D3CC0-B20B-4FAC-85CE-490AAD49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Full navigation and wide hero composition.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E8D7B3-E560-4DAE-996D-8B3985EA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00062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C4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C42B"/>
                </a:solidFill>
                <a:latin typeface="Aptos"/>
                <a:ea typeface="Aptos"/>
                <a:cs typeface="Aptos"/>
              </a:rPr>
              <a:t>Tablet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19D7ED-6BF6-45C2-991F-E6D4C26E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2959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Compressed cards and tighter page rhythm.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87428D-8ECB-4F14-AB4B-6175B13D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00062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A3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7A32A"/>
                </a:solidFill>
                <a:latin typeface="Aptos"/>
                <a:ea typeface="Aptos"/>
                <a:cs typeface="Aptos"/>
              </a:rPr>
              <a:t>Mobile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4D5901-9511-41C5-B76E-056F3796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2959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Menu panel, stacked content, reduced hero scale.</a:t>
            </a:r>
          </a:p>
        </p:txBody>
      </p:sp>
    </p:spTree>
    <p:extLst>
      <p:ext uri="{BB962C8B-B14F-4D97-AF65-F5344CB8AC3E}">
        <p14:creationId xmlns:p14="http://schemas.microsoft.com/office/powerpoint/2010/main" val="209603805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5DBB41-A0B5-45F4-8D35-1D7BD0E5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78568-218E-444B-8E0C-D2C0380D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1B7431-64D7-4D16-B3D2-35B124F4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76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4F4B4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F4B45"/>
                </a:solidFill>
                <a:latin typeface="Aptos"/>
                <a:ea typeface="Aptos"/>
                <a:cs typeface="Aptos"/>
              </a:rPr>
              <a:t>JavaScript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40A38-E530-4DD9-B4D5-A498F215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4F4B4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F4B45"/>
                </a:solidFill>
                <a:latin typeface="Aptos"/>
                <a:ea typeface="Aptos"/>
                <a:cs typeface="Aptos"/>
              </a:rPr>
              <a:t>Menu, tabs, video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16148-4500-4B0B-8C8C-D4F28FC8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4F4B45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4F4B4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88919-5764-41A8-9D7A-FC7057B4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7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BDF8EE-6567-403A-AD76-6E5CC44C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895350"/>
            <a:ext cx="342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defRPr>
            </a:pPr>
            <a:r>
              <a:rPr sz="6600" b="1">
                <a:solidFill>
                  <a:srgbClr val="0B0B0B"/>
                </a:solidFill>
                <a:latin typeface="Aptos Display"/>
                <a:ea typeface="Aptos Display"/>
                <a:cs typeface="Aptos Display"/>
              </a:rPr>
              <a:t>STATE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28B79-E9A5-4CBF-A495-71AB6D37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81100"/>
            <a:ext cx="3333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4B4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F4B45"/>
                </a:solidFill>
                <a:latin typeface="Aptos"/>
                <a:ea typeface="Aptos"/>
                <a:cs typeface="Aptos"/>
              </a:rPr>
              <a:t>The JavaScript layer changes UI state through data attributes and class names.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BB3742-D024-4D5D-B9DE-8B088D9E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240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7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2CA935-3065-4A14-B8CD-9B49FCCD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43150"/>
            <a:ext cx="5810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B0B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AE3CD8-AB2C-4FBC-A128-44F22EA5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542925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q("[data-menu-toggle]")?.addEventListener("click", (e) =&gt; {</a:t>
            </a:r>
          </a:p>
          <a:p xmlns:a="http://schemas.openxmlformats.org/drawingml/2006/main">
            <a:pPr algn="l">
              <a:defRPr sz="938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const menu = q("[data-nav-menu]");</a:t>
            </a:r>
          </a:p>
          <a:p xmlns:a="http://schemas.openxmlformats.org/drawingml/2006/main">
            <a:pPr algn="l">
              <a:defRPr sz="938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const on = menu.classList.toggle("is-open");</a:t>
            </a:r>
          </a:p>
          <a:p xmlns:a="http://schemas.openxmlformats.org/drawingml/2006/main">
            <a:pPr algn="l">
              <a:defRPr sz="938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setOpen(e.currentTarget, on);</a:t>
            </a:r>
          </a:p>
          <a:p xmlns:a="http://schemas.openxmlformats.org/drawingml/2006/main">
            <a:pPr algn="l">
              <a:defRPr sz="938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  document.body.classList.toggle("is-menu-open", on);</a:t>
            </a:r>
          </a:p>
          <a:p xmlns:a="http://schemas.openxmlformats.org/drawingml/2006/main">
            <a:pPr algn="l">
              <a:defRPr sz="938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8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// The same controller also handles:</a:t>
            </a:r>
          </a:p>
          <a:p xmlns:a="http://schemas.openxmlformats.org/drawingml/2006/main">
            <a:pPr algn="l">
              <a:defRPr sz="938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// mega panels, search overlay, hero tabs,</a:t>
            </a:r>
          </a:p>
          <a:p xmlns:a="http://schemas.openxmlformats.org/drawingml/2006/main">
            <a:pPr algn="l">
              <a:defRPr sz="938" b="0">
                <a:solidFill>
                  <a:srgbClr val="F6F3F1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6F3F1"/>
                </a:solidFill>
                <a:latin typeface="Aptos Mono"/>
                <a:ea typeface="Aptos Mono"/>
                <a:cs typeface="Aptos Mono"/>
              </a:rPr>
              <a:t>// trailer tabs, scroll buttons, and Escape close.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E5199E-2FF1-4F15-969A-43B5561A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5C6B98-35EA-4762-85BC-6099C03C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7A3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7A32A"/>
                </a:solidFill>
                <a:latin typeface="Aptos"/>
                <a:ea typeface="Aptos"/>
                <a:cs typeface="Aptos"/>
              </a:rPr>
              <a:t>data-panel-trigger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106C4A-ADCA-4644-AC52-ABD92DA9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F4B4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F4B45"/>
                </a:solidFill>
                <a:latin typeface="Aptos"/>
                <a:ea typeface="Aptos"/>
                <a:cs typeface="Aptos"/>
              </a:rPr>
              <a:t>opens mega panels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DA3A4D-B723-4643-8AA2-68F6FAD7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67050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7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2AC20C-9E9B-4142-B8D1-DE819C8D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194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51B2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51B23"/>
                </a:solidFill>
                <a:latin typeface="Aptos"/>
                <a:ea typeface="Aptos"/>
                <a:cs typeface="Aptos"/>
              </a:rPr>
              <a:t>data-search-open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5FEF2E-022A-4B51-A75A-C42476DE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194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F4B4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F4B45"/>
                </a:solidFill>
                <a:latin typeface="Aptos"/>
                <a:ea typeface="Aptos"/>
                <a:cs typeface="Aptos"/>
              </a:rPr>
              <a:t>reveals search overlay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5E911F-6591-40F8-975B-B43ADB50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0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7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C71F82-CDEE-49A8-8DA4-14449920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9624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47A32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7A32A"/>
                </a:solidFill>
                <a:latin typeface="Aptos"/>
                <a:ea typeface="Aptos"/>
                <a:cs typeface="Aptos"/>
              </a:rPr>
              <a:t>hero-tab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08ED60-681E-411A-B4BC-F2EC9D00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624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F4B4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F4B45"/>
                </a:solidFill>
                <a:latin typeface="Aptos"/>
                <a:ea typeface="Aptos"/>
                <a:cs typeface="Aptos"/>
              </a:rPr>
              <a:t>switches hero media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46B50A-33B2-4143-9EF5-3534CCB0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52950"/>
            <a:ext cx="3857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877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A2FA54-05F4-4019-92C2-54005A60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7053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51B2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51B23"/>
                </a:solidFill>
                <a:latin typeface="Aptos"/>
                <a:ea typeface="Aptos"/>
                <a:cs typeface="Aptos"/>
              </a:rPr>
              <a:t>data-scroll-track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DCCE01-EB00-4ECF-BBD4-91909ECD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053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F4B4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4F4B45"/>
                </a:solidFill>
                <a:latin typeface="Aptos"/>
                <a:ea typeface="Aptos"/>
                <a:cs typeface="Aptos"/>
              </a:rPr>
              <a:t>moves carousels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85C1F7-6617-4114-B3AD-DD1D4A41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51B2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E51B23"/>
                </a:solidFill>
                <a:latin typeface="Aptos"/>
                <a:ea typeface="Aptos"/>
                <a:cs typeface="Aptos"/>
              </a:rPr>
              <a:t>scripts/main.js</a:t>
            </a:r>
          </a:p>
        </p:txBody>
      </p:sp>
    </p:spTree>
    <p:extLst>
      <p:ext uri="{BB962C8B-B14F-4D97-AF65-F5344CB8AC3E}">
        <p14:creationId xmlns:p14="http://schemas.microsoft.com/office/powerpoint/2010/main" val="50987386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D17678-E064-4838-AB55-A37A75DE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990A2-68E2-45BF-BAB8-A715AA4F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86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2D5E5-B928-45B2-AB31-A09B1861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76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BBB6A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BBB6AA"/>
                </a:solidFill>
                <a:latin typeface="Aptos"/>
                <a:ea typeface="Aptos"/>
                <a:cs typeface="Aptos"/>
              </a:rPr>
              <a:t>CSS beyond class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397066-9B8F-4133-B54C-0A2F88AD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BBB6A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BBB6AA"/>
                </a:solidFill>
                <a:latin typeface="Aptos"/>
                <a:ea typeface="Aptos"/>
                <a:cs typeface="Aptos"/>
              </a:rPr>
              <a:t>Documented usage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A88C8-E6F1-4912-91BA-1C6F5193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28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BB6A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BBB6A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05AD9-6A6B-4398-9248-B936F045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8FAE6-067D-44F5-86D8-87BAF8E0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038225"/>
            <a:ext cx="3152775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9050">
            <a:solidFill>
              <a:srgbClr val="E51B23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9f37ec07c64f64"/>
          <a:srcRect xmlns:a="http://schemas.openxmlformats.org/drawingml/2006/main" l="24390" t="0" r="243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066800"/>
            <a:ext cx="3095625" cy="2381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6B85F-7A9D-47F0-942D-C94135C6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038225"/>
            <a:ext cx="3152775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9050">
            <a:solidFill>
              <a:srgbClr val="47A32A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c71ab6caae45c9"/>
          <a:srcRect xmlns:a="http://schemas.openxmlformats.org/drawingml/2006/main" l="15387" t="0" r="153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62375" y="1066800"/>
            <a:ext cx="3095625" cy="2381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E4A65-BF9D-4D32-AF7D-3B5C0A2B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038225"/>
            <a:ext cx="3152775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19050">
            <a:solidFill>
              <a:srgbClr val="FFC42B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e8800b7b234023"/>
          <a:srcRect xmlns:a="http://schemas.openxmlformats.org/drawingml/2006/main" l="6667" t="0" r="66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4700" y="1066800"/>
            <a:ext cx="3095625" cy="2381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FA5961-2E06-484D-A7A6-E931F657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CSS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ABCB7F-ABD3-40A3-AA61-C09B97DE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00600"/>
            <a:ext cx="590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1">
                <a:solidFill>
                  <a:srgbClr val="F6F3F1"/>
                </a:solidFill>
                <a:latin typeface="Aptos Display"/>
                <a:ea typeface="Aptos Display"/>
                <a:cs typeface="Aptos Display"/>
              </a:rPr>
              <a:t>REFERENCES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17D13-2F53-420A-8FD3-5C0DD8BC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7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3909C3-29C8-457F-9D46-5D2CFC85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95750"/>
            <a:ext cx="371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CSS variables: --token and var()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9815FF-8D04-457D-A375-D3ADBAD8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95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E245BF-93CB-4ADA-ADA8-980A3C46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19600"/>
            <a:ext cx="371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CSS nesting: &amp;:hover, &amp;::after, &amp;[aria-expanded]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86B8BF-EF99-4FFC-82DE-A79A2871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19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54964C-6D19-43F2-A532-4176404F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743450"/>
            <a:ext cx="371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Responsive math: calc(), min(), clamp()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07BE97-6335-42CB-9FA4-837BB278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43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27F728-DA41-4188-8912-B55C32AF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067300"/>
            <a:ext cx="371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Media fitting: aspect-ratio and object-fit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727C82-01CB-45D0-8359-052DAA09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467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1B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447F42-A4AA-4604-9052-12AC2489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391150"/>
            <a:ext cx="371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Effects: backdrop-filter, filter, box-shadow, clip-path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99CAD6-DC7C-488D-898C-04D2DA91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791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A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F13831-FFFE-4CCD-9313-7C0F56DE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715000"/>
            <a:ext cx="371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D8D3C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D8D3C7"/>
                </a:solidFill>
                <a:latin typeface="Aptos"/>
                <a:ea typeface="Aptos"/>
                <a:cs typeface="Aptos"/>
              </a:rPr>
              <a:t>Motion access: prefers-reduced-motion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DE288B-98F9-4CA2-9700-F36E38EA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9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C58DBB-DBBA-400B-B728-E2589C1C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60960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C4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C42B"/>
                </a:solidFill>
                <a:latin typeface="Aptos"/>
                <a:ea typeface="Aptos"/>
                <a:cs typeface="Aptos"/>
              </a:rPr>
              <a:t>Reference source: MDN Web Docs</a:t>
            </a:r>
          </a:p>
        </p:txBody>
      </p:sp>
    </p:spTree>
    <p:extLst>
      <p:ext uri="{BB962C8B-B14F-4D97-AF65-F5344CB8AC3E}">
        <p14:creationId xmlns:p14="http://schemas.microsoft.com/office/powerpoint/2010/main" val="12340905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2026-05-17T23:28:06.3260000Z</dcterms:created>
  <dcterms:modified xsi:type="dcterms:W3CDTF">2026-05-17T23:28:06.3260000Z</dcterms:modified>
</coreProperties>
</file>